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-365760"/>
            <a:ext cx="2286000" cy="2286000"/>
          </a:xfrm>
          <a:prstGeom prst="ellipse">
            <a:avLst/>
          </a:prstGeom>
          <a:solidFill>
            <a:srgbClr val="00C2A8">
              <a:alpha val="8000"/>
            </a:srgbClr>
          </a:solidFill>
          <a:ln w="12700">
            <a:solidFill>
              <a:srgbClr val="00C2A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0C2A8">
              <a:alpha val="2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C2A8"/>
                </a:solidFill>
              </a:rPr>
              <a:t>TOKEN DISTRIBUTION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Memahami 3 Jenis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Vesting Token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 · Linear Streaming · Milestone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sederhana untuk memahami bagaimana token didistribusikan secara on-chain di ekosistem Solana.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E6E"/>
          </a:solidFill>
          <a:ln w="12700">
            <a:solidFill>
              <a:srgbClr val="007E6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Apa itu Token Vesting?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371600" cy="0"/>
          </a:xfrm>
          <a:prstGeom prst="line">
            <a:avLst/>
          </a:prstGeom>
          <a:noFill/>
          <a:ln w="381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vesting adalah sistem yang mengatur KAPAN token bisa diakses — bukan semua sekaligus.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8046720" cy="1188720"/>
          </a:xfrm>
          <a:prstGeom prst="rect">
            <a:avLst/>
          </a:prstGeom>
          <a:solidFill>
            <a:srgbClr val="1A2F47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" cy="1188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</a:rPr>
              <a:t>💡  Analogi Mudah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1284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Bayangkan kamu membayar kontraktor membangun gedung. Kamu tidak langsung bayar penuh di hari pertama — kamu buat jadwal pembayaran berdasarkan waktu kerja, atau milestone yang dicapai. Vesting token bekerja sama persis.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2651760" cy="1554480"/>
          </a:xfrm>
          <a:prstGeom prst="rect">
            <a:avLst/>
          </a:prstGeom>
          <a:solidFill>
            <a:srgbClr val="1A2F47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200400"/>
            <a:ext cx="265176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337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" y="3657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Cliff Vesting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005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Tunggu dulu, baru dapat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3200400"/>
            <a:ext cx="2651760" cy="1554480"/>
          </a:xfrm>
          <a:prstGeom prst="rect">
            <a:avLst/>
          </a:prstGeom>
          <a:solidFill>
            <a:srgbClr val="1A2F47"/>
          </a:solidFill>
          <a:ln w="12700">
            <a:solidFill>
              <a:srgbClr val="3B9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3200400"/>
            <a:ext cx="2651760" cy="64008"/>
          </a:xfrm>
          <a:prstGeom prst="rect">
            <a:avLst/>
          </a:prstGeom>
          <a:solidFill>
            <a:srgbClr val="3B9FE8"/>
          </a:solidFill>
          <a:ln w="12700">
            <a:solidFill>
              <a:srgbClr val="3B9F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3337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9FE8"/>
                </a:solidFill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520440" y="3657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Linear Streaming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4005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Mengalir terus setiap detik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200400"/>
            <a:ext cx="2651760" cy="1554480"/>
          </a:xfrm>
          <a:prstGeom prst="rect">
            <a:avLst/>
          </a:prstGeom>
          <a:solidFill>
            <a:srgbClr val="1A2F4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320040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337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55080" y="3657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Milestone-Based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4005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 target, baru unlock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2560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Cliff Vesting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43000" y="749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Tunggu dulu — baru dapat semua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8046720" cy="228600"/>
          </a:xfrm>
          <a:prstGeom prst="rect">
            <a:avLst/>
          </a:prstGeom>
          <a:solidFill>
            <a:srgbClr val="1A2F47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4023360" cy="228600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828800"/>
            <a:ext cx="4023360" cy="2286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4568" y="1645920"/>
            <a:ext cx="54864" cy="68580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325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Cliff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(Bulan 12)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CC8"/>
                </a:solidFill>
              </a:rPr>
              <a:t>Bulan 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0" y="2103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CC00"/>
                </a:solidFill>
              </a:rPr>
              <a:t>Bulan 12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21040" y="2103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CC8"/>
                </a:solidFill>
              </a:rPr>
              <a:t>Bulan 24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" y="18562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ACC"/>
                </a:solidFill>
              </a:rPr>
              <a:t>🔒 TERKUNCI (0 token)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18562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📈 Vest bertahap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423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</a:rPr>
              <a:t>Contoh: 1.000.000 Token — Cliff 12 bulan + Linear 12 bulan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8046720" cy="16002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25603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Kejadian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Bisa Diklaim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6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 0–11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🔒 Cliff — semua terkunci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⚡ Cliff selesai — 25% langsung unlock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 13–23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📈 Linear vest bulanan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312.500 → 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 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Fully vested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0D3B3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" y="4480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Cocok untuk: Founder, tim inti, early investor — butuh komitmen sebelum menerima token pertama.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9FE8"/>
          </a:solidFill>
          <a:ln w="12700">
            <a:solidFill>
              <a:srgbClr val="3B9F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3B9FE8"/>
          </a:solidFill>
          <a:ln w="12700">
            <a:solidFill>
              <a:srgbClr val="3B9F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2560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Linear Streaming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43000" y="749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B9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Mengalir terus seperti gaji bulanan, setiap detik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solidFill>
            <a:srgbClr val="0D1F3A"/>
          </a:solidFill>
          <a:ln w="12700">
            <a:solidFill>
              <a:srgbClr val="3B9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26187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9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Unlocked = Total × (Waktu Sekarang − Mulai) ÷ (Selesai − Mulai)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FE8"/>
                </a:solidFill>
              </a:rPr>
              <a:t>Contoh: 1.200 Token selama 12 bulan (100 token/bulan)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665220"/>
            <a:ext cx="512064" cy="83820"/>
          </a:xfrm>
          <a:prstGeom prst="rect">
            <a:avLst/>
          </a:prstGeom>
          <a:solidFill>
            <a:srgbClr val="3B9FE8"/>
          </a:solidFill>
          <a:ln w="12700">
            <a:solidFill>
              <a:srgbClr val="3B9F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9476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CC8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17320" y="3581400"/>
            <a:ext cx="512064" cy="167640"/>
          </a:xfrm>
          <a:prstGeom prst="rect">
            <a:avLst/>
          </a:prstGeom>
          <a:solidFill>
            <a:srgbClr val="3B9FE8"/>
          </a:solidFill>
          <a:ln w="12700">
            <a:solidFill>
              <a:srgbClr val="3B9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379476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CC8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011680" y="3497580"/>
            <a:ext cx="512064" cy="251460"/>
          </a:xfrm>
          <a:prstGeom prst="rect">
            <a:avLst/>
          </a:prstGeom>
          <a:solidFill>
            <a:srgbClr val="3B9FE8"/>
          </a:solidFill>
          <a:ln w="12700">
            <a:solidFill>
              <a:srgbClr val="3B9F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379476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CC8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606040" y="3413760"/>
            <a:ext cx="512064" cy="335280"/>
          </a:xfrm>
          <a:prstGeom prst="rect">
            <a:avLst/>
          </a:prstGeom>
          <a:solidFill>
            <a:srgbClr val="3B9FE8"/>
          </a:solidFill>
          <a:ln w="12700">
            <a:solidFill>
              <a:srgbClr val="3B9F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379476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CC8"/>
                </a:solidFill>
              </a:rPr>
              <a:t>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0" y="3329940"/>
            <a:ext cx="512064" cy="419100"/>
          </a:xfrm>
          <a:prstGeom prst="rect">
            <a:avLst/>
          </a:prstGeom>
          <a:solidFill>
            <a:srgbClr val="3B9FE8"/>
          </a:solidFill>
          <a:ln w="12700">
            <a:solidFill>
              <a:srgbClr val="3B9F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379476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CC8"/>
                </a:solidFill>
              </a:rPr>
              <a:t>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94760" y="3246120"/>
            <a:ext cx="512064" cy="502920"/>
          </a:xfrm>
          <a:prstGeom prst="rect">
            <a:avLst/>
          </a:prstGeom>
          <a:solidFill>
            <a:srgbClr val="3B9FE8"/>
          </a:solidFill>
          <a:ln w="12700">
            <a:solidFill>
              <a:srgbClr val="3B9F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379476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CC8"/>
                </a:solidFill>
              </a:rPr>
              <a:t>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389120" y="3162300"/>
            <a:ext cx="512064" cy="586740"/>
          </a:xfrm>
          <a:prstGeom prst="rect">
            <a:avLst/>
          </a:prstGeom>
          <a:solidFill>
            <a:srgbClr val="3B9FE8"/>
          </a:solidFill>
          <a:ln w="12700">
            <a:solidFill>
              <a:srgbClr val="3B9F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379476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CC8"/>
                </a:solidFill>
              </a:rPr>
              <a:t>7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83480" y="3078480"/>
            <a:ext cx="512064" cy="670560"/>
          </a:xfrm>
          <a:prstGeom prst="rect">
            <a:avLst/>
          </a:prstGeom>
          <a:solidFill>
            <a:srgbClr val="3B9FE8"/>
          </a:solidFill>
          <a:ln w="12700">
            <a:solidFill>
              <a:srgbClr val="3B9F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79476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CC8"/>
                </a:solidFill>
              </a:rPr>
              <a:t>8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577840" y="2994660"/>
            <a:ext cx="512064" cy="754380"/>
          </a:xfrm>
          <a:prstGeom prst="rect">
            <a:avLst/>
          </a:prstGeom>
          <a:solidFill>
            <a:srgbClr val="3B9FE8"/>
          </a:solidFill>
          <a:ln w="12700">
            <a:solidFill>
              <a:srgbClr val="3B9F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379476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CC8"/>
                </a:solidFill>
              </a:rPr>
              <a:t>9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72200" y="2910840"/>
            <a:ext cx="512064" cy="838200"/>
          </a:xfrm>
          <a:prstGeom prst="rect">
            <a:avLst/>
          </a:prstGeom>
          <a:solidFill>
            <a:srgbClr val="3B9FE8"/>
          </a:solidFill>
          <a:ln w="12700">
            <a:solidFill>
              <a:srgbClr val="3B9F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79476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CC8"/>
                </a:solidFill>
              </a:rPr>
              <a:t>10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766560" y="2827020"/>
            <a:ext cx="512064" cy="922020"/>
          </a:xfrm>
          <a:prstGeom prst="rect">
            <a:avLst/>
          </a:prstGeom>
          <a:solidFill>
            <a:srgbClr val="3B9FE8"/>
          </a:solidFill>
          <a:ln w="12700">
            <a:solidFill>
              <a:srgbClr val="3B9F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379476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CC8"/>
                </a:solidFill>
              </a:rPr>
              <a:t>11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60920" y="2743200"/>
            <a:ext cx="512064" cy="1005840"/>
          </a:xfrm>
          <a:prstGeom prst="rect">
            <a:avLst/>
          </a:prstGeom>
          <a:solidFill>
            <a:srgbClr val="3B9FE8"/>
          </a:solidFill>
          <a:ln w="12700">
            <a:solidFill>
              <a:srgbClr val="3B9F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379476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CC8"/>
                </a:solidFill>
              </a:rPr>
              <a:t>12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" y="39959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CC8"/>
                </a:solidFill>
              </a:rPr>
              <a:t>Bulan →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" y="26517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CC8"/>
                </a:solidFill>
              </a:rPr>
              <a:t>1.200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" y="36576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CC8"/>
                </a:solidFill>
              </a:rPr>
              <a:t>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0A1E3A"/>
          </a:solidFill>
          <a:ln w="12700">
            <a:solidFill>
              <a:srgbClr val="3B9F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480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Cocok untuk: Staking rewards, liquidity mining, gaji kontributor DAO — tidak ada cliff, langsung mengalir dari hari pertama.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2560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Milestone-Based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43000" y="749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 target dulu — baru token unlock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Contoh: 5.000.000 Token — 4 Milestone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920240" cy="2286000"/>
          </a:xfrm>
          <a:prstGeom prst="rect">
            <a:avLst/>
          </a:prstGeom>
          <a:solidFill>
            <a:srgbClr val="1A2F47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54480"/>
            <a:ext cx="19202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169164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3042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Diluncurkan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1.000.000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2697480"/>
            <a:ext cx="228600" cy="0"/>
          </a:xfrm>
          <a:prstGeom prst="line">
            <a:avLst/>
          </a:prstGeom>
          <a:noFill/>
          <a:ln w="19050">
            <a:solidFill>
              <a:srgbClr val="8BAC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257860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CC8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1554480"/>
            <a:ext cx="1920240" cy="2286000"/>
          </a:xfrm>
          <a:prstGeom prst="rect">
            <a:avLst/>
          </a:prstGeom>
          <a:solidFill>
            <a:srgbClr val="1A2F47"/>
          </a:solidFill>
          <a:ln w="1905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1554480"/>
            <a:ext cx="192024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691640"/>
            <a:ext cx="548640" cy="5486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97480" y="23042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+ Audit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97480" y="2971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1.500.000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(30%)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26280" y="2697480"/>
            <a:ext cx="228600" cy="0"/>
          </a:xfrm>
          <a:prstGeom prst="line">
            <a:avLst/>
          </a:prstGeom>
          <a:noFill/>
          <a:ln w="19050">
            <a:solidFill>
              <a:srgbClr val="8BAC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257860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CC8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554480"/>
            <a:ext cx="1920240" cy="2286000"/>
          </a:xfrm>
          <a:prstGeom prst="rect">
            <a:avLst/>
          </a:prstGeom>
          <a:solidFill>
            <a:srgbClr val="1A2F47"/>
          </a:solidFill>
          <a:ln w="19050">
            <a:solidFill>
              <a:srgbClr val="3B9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554480"/>
            <a:ext cx="1920240" cy="64008"/>
          </a:xfrm>
          <a:prstGeom prst="rect">
            <a:avLst/>
          </a:prstGeom>
          <a:solidFill>
            <a:srgbClr val="3B9FE8"/>
          </a:solidFill>
          <a:ln w="12700">
            <a:solidFill>
              <a:srgbClr val="3B9F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40680" y="1691640"/>
            <a:ext cx="548640" cy="548640"/>
          </a:xfrm>
          <a:prstGeom prst="ellipse">
            <a:avLst/>
          </a:prstGeom>
          <a:solidFill>
            <a:srgbClr val="3B9FE8"/>
          </a:solidFill>
          <a:ln w="12700">
            <a:solidFill>
              <a:srgbClr val="3B9F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3042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Aktif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971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9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1.250.000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B9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(25%)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5120" y="2697480"/>
            <a:ext cx="228600" cy="0"/>
          </a:xfrm>
          <a:prstGeom prst="line">
            <a:avLst/>
          </a:prstGeom>
          <a:noFill/>
          <a:ln w="19050">
            <a:solidFill>
              <a:srgbClr val="8BAC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39712" y="257860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CC8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03720" y="1554480"/>
            <a:ext cx="1920240" cy="2286000"/>
          </a:xfrm>
          <a:prstGeom prst="rect">
            <a:avLst/>
          </a:prstGeom>
          <a:solidFill>
            <a:srgbClr val="1A2F4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1554480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16916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95160" y="23042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95160" y="2971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1.250.000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(25%)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4005072"/>
            <a:ext cx="8046720" cy="502920"/>
          </a:xfrm>
          <a:prstGeom prst="rect">
            <a:avLst/>
          </a:prstGeom>
          <a:solidFill>
            <a:srgbClr val="2A1A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40507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Waktu tidak penting — yang penting apakah goalnya tercapai. Token tidak keluar jika milestone belum terpenuhi.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553712"/>
            <a:ext cx="8046720" cy="411480"/>
          </a:xfrm>
          <a:prstGeom prst="rect">
            <a:avLst/>
          </a:prstGeom>
          <a:solidFill>
            <a:srgbClr val="1A2F47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5902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Cocok untuk: Foundation fund, grant program, ekosistem DAO — reward berbasis pencapaian nyata.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Perbandingan Ketiga Mekanisme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371600" cy="0"/>
          </a:xfrm>
          <a:prstGeom prst="line">
            <a:avLst/>
          </a:prstGeom>
          <a:noFill/>
          <a:ln w="38100">
            <a:solidFill>
              <a:srgbClr val="00C2A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8046720" cy="3840480"/>
        </p:xfrm>
        <a:graphic>
          <a:graphicData uri="http://schemas.openxmlformats.org/drawingml/2006/table">
            <a:tbl>
              <a:tblPr/>
              <a:tblGrid>
                <a:gridCol w="1920240"/>
                <a:gridCol w="2011680"/>
                <a:gridCol w="2011680"/>
                <a:gridCol w="2103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5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🏔 Cliff Vesting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5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9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💧 Linear Streaming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5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🎯 Milestone-Based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5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Pemicu Unlock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 (kalender)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 (kontinu)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Pencapaian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Pertama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Setelah cliff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 pertama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Setelah milestone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Prediktabilitas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  Tinggi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  Sangat tinggi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  Rendah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Akuntabilitas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  Sedang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  Rendah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  Sangat tinggi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Risiko Jual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 di cliff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Rendah (merata)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Bervariasi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Cocok untuk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Tim, investor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Staking, gaji DAO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Foundation, grants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Kapan Pakai yang Mana?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2606040" cy="4069080"/>
          </a:xfrm>
          <a:prstGeom prst="rect">
            <a:avLst/>
          </a:prstGeom>
          <a:solidFill>
            <a:srgbClr val="1A2F47"/>
          </a:solidFill>
          <a:ln w="1905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868680"/>
            <a:ext cx="260604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🏔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Cliff Vesting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121408"/>
            <a:ext cx="2057400" cy="0"/>
          </a:xfrm>
          <a:prstGeom prst="line">
            <a:avLst/>
          </a:prstGeom>
          <a:noFill/>
          <a:ln w="6350">
            <a:solidFill>
              <a:srgbClr val="00C2A8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1284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penerimanya adalah orang penting yang harus membuktikan komitmen lebih dulu.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Founder &amp; tim inti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Early investor / VC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Advisor strategis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868680"/>
            <a:ext cx="2606040" cy="4069080"/>
          </a:xfrm>
          <a:prstGeom prst="rect">
            <a:avLst/>
          </a:prstGeom>
          <a:solidFill>
            <a:srgbClr val="1A2F47"/>
          </a:solidFill>
          <a:ln w="19050">
            <a:solidFill>
              <a:srgbClr val="3B9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868680"/>
            <a:ext cx="2606040" cy="73152"/>
          </a:xfrm>
          <a:prstGeom prst="rect">
            <a:avLst/>
          </a:prstGeom>
          <a:solidFill>
            <a:srgbClr val="3B9FE8"/>
          </a:solidFill>
          <a:ln w="12700">
            <a:solidFill>
              <a:srgbClr val="3B9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0058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💧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29000" y="15727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9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Linear Streaming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11880" y="2121408"/>
            <a:ext cx="2057400" cy="0"/>
          </a:xfrm>
          <a:prstGeom prst="line">
            <a:avLst/>
          </a:prstGeom>
          <a:noFill/>
          <a:ln w="6350">
            <a:solidFill>
              <a:srgbClr val="3B9FE8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21284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kamu ingin reward partisipasi yang berkelanjutan tanpa risiko dump besar-besaran.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3063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Staking &amp; liquidity rewards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Gaji kontributor DAO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Protocol emissions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868680"/>
            <a:ext cx="2606040" cy="4069080"/>
          </a:xfrm>
          <a:prstGeom prst="rect">
            <a:avLst/>
          </a:prstGeom>
          <a:solidFill>
            <a:srgbClr val="1A2F4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868680"/>
            <a:ext cx="2606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0058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63640" y="15727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Milestone-Based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46520" y="2121408"/>
            <a:ext cx="2057400" cy="0"/>
          </a:xfrm>
          <a:prstGeom prst="line">
            <a:avLst/>
          </a:prstGeom>
          <a:noFill/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21284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token hanya boleh keluar jika goals nyata sudah tercapai.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3063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Ecosystem / foundation fund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Grant program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Incentive upgrade protokol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663440"/>
            <a:ext cx="8138160" cy="347472"/>
          </a:xfrm>
          <a:prstGeom prst="rect">
            <a:avLst/>
          </a:prstGeom>
          <a:solidFill>
            <a:srgbClr val="122B1F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70001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Best practice: Kombinasi ketiganya (Hybrid) — Tim pakai Cliff, Staking pakai Linear, Ecosystem Fund pakai Milestone.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0C2A8">
              <a:alpha val="10000"/>
            </a:srgbClr>
          </a:solidFill>
          <a:ln w="12700">
            <a:solidFill>
              <a:srgbClr val="00C2A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3B9FE8">
              <a:alpha val="8000"/>
            </a:srgbClr>
          </a:solidFill>
          <a:ln w="12700">
            <a:solidFill>
              <a:srgbClr val="3B9FE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2A8"/>
                </a:solidFill>
              </a:rPr>
              <a:t>Ringkasan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960120"/>
            <a:ext cx="7680960" cy="731520"/>
          </a:xfrm>
          <a:prstGeom prst="rect">
            <a:avLst/>
          </a:prstGeom>
          <a:solidFill>
            <a:srgbClr val="1A2F47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960120"/>
            <a:ext cx="64008" cy="7315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033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🏔  Cliff Vesting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3441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Tunggu → Lump sum → Vest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874520"/>
            <a:ext cx="7680960" cy="731520"/>
          </a:xfrm>
          <a:prstGeom prst="rect">
            <a:avLst/>
          </a:prstGeom>
          <a:solidFill>
            <a:srgbClr val="1A2F47"/>
          </a:solidFill>
          <a:ln w="12700">
            <a:solidFill>
              <a:srgbClr val="3B9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874520"/>
            <a:ext cx="64008" cy="731520"/>
          </a:xfrm>
          <a:prstGeom prst="rect">
            <a:avLst/>
          </a:prstGeom>
          <a:solidFill>
            <a:srgbClr val="3B9FE8"/>
          </a:solidFill>
          <a:ln w="12700">
            <a:solidFill>
              <a:srgbClr val="3B9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47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9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Linear Streaming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2585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 mengalir, merata setiap detik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788920"/>
            <a:ext cx="7680960" cy="731520"/>
          </a:xfrm>
          <a:prstGeom prst="rect">
            <a:avLst/>
          </a:prstGeom>
          <a:solidFill>
            <a:srgbClr val="1A2F4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788920"/>
            <a:ext cx="64008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Milestone-Based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1729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 goal → Token unlock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7680960" cy="1005840"/>
          </a:xfrm>
          <a:prstGeom prst="rect">
            <a:avLst/>
          </a:prstGeom>
          <a:solidFill>
            <a:srgbClr val="091F1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931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"Token distribution bukan sekadar teknis — ini adalah sinyal kepercayaan kepada investor, komunitas, dan ekosistem."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E6E"/>
          </a:solidFill>
          <a:ln w="12700">
            <a:solidFill>
              <a:srgbClr val="007E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CC8"/>
                </a:solidFill>
              </a:rPr>
              <a:t>Mancer Work Trial × Solana Superteam — Token Distribution Protocol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 Distribution: Cliff, Linear &amp; Milestone</dc:title>
  <dc:subject>PptxGenJS Presentation</dc:subject>
  <dc:creator>PptxGenJS</dc:creator>
  <cp:lastModifiedBy>PptxGenJS</cp:lastModifiedBy>
  <cp:revision>1</cp:revision>
  <dcterms:created xsi:type="dcterms:W3CDTF">2026-04-30T08:54:58Z</dcterms:created>
  <dcterms:modified xsi:type="dcterms:W3CDTF">2026-04-30T08:54:58Z</dcterms:modified>
</cp:coreProperties>
</file>